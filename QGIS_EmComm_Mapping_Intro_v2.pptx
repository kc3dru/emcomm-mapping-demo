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72" r:id="rId23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1" r:id="rId22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7.xml"/><Relationship Id="rId8" Type="http://schemas.openxmlformats.org/officeDocument/2006/relationships/slide" Target="slides/slide8.xml"/><Relationship Id="rId9" Type="http://schemas.openxmlformats.org/officeDocument/2006/relationships/slide" Target="slides/slide9.xml"/><Relationship Id="rId10" Type="http://schemas.openxmlformats.org/officeDocument/2006/relationships/slide" Target="slides/slide10.xml"/><Relationship Id="rId11" Type="http://schemas.openxmlformats.org/officeDocument/2006/relationships/slide" Target="slides/slide11.xml"/><Relationship Id="rId12" Type="http://schemas.openxmlformats.org/officeDocument/2006/relationships/slide" Target="slides/slide12.xml"/><Relationship Id="rId13" Type="http://schemas.openxmlformats.org/officeDocument/2006/relationships/slide" Target="slides/slide13.xml"/><Relationship Id="rId14" Type="http://schemas.openxmlformats.org/officeDocument/2006/relationships/slide" Target="slides/slide14.xml"/><Relationship Id="rId15" Type="http://schemas.openxmlformats.org/officeDocument/2006/relationships/slide" Target="slides/slide15.xml"/><Relationship Id="rId16" Type="http://schemas.openxmlformats.org/officeDocument/2006/relationships/slide" Target="slides/slide17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Relationship Id="rId22" Type="http://schemas.openxmlformats.org/officeDocument/2006/relationships/slide" Target="slides/slide16.xml"/><Relationship Id="rId23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 TO QGIS</a:t>
            </a:r>
            <a:endParaRPr lang="en-US" sz="4200" dirty="0"/>
          </a:p>
        </p:txBody>
      </p:sp>
      <p:sp>
        <p:nvSpPr>
          <p:cNvPr id="3" name="Text 1"/>
          <p:cNvSpPr/>
          <p:nvPr/>
        </p:nvSpPr>
        <p:spPr>
          <a:xfrm>
            <a:off x="548640" y="22860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93C5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Emergency Communications Mapping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2971800"/>
            <a:ext cx="2011680" cy="73152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3291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Ham Radio EmComm  ·  CERT  ·  Situational Awareness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43891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Making simple, useful maps of who can talk to whom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We'll Cover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914400"/>
            <a:ext cx="1645920" cy="54864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188720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280160" y="118872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maps matter in EmComm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280160" y="1481328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Situational awareness, after-action, planning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1901952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280160" y="1901952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QGIS (and when not)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280160" y="219456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Open-source power vs specialized radio tools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48640" y="2615184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280160" y="2615184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GIS concepts in 5 minutes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280160" y="2907792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Layers, vectors, CRS, attributes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48640" y="3328416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280160" y="3328416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Hands-on workflow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280160" y="3621024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Points, lines, labels, signal-strength styling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48640" y="4041648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280160" y="4041648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Data, offline use &amp; next steps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280160" y="4334256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Sources, printing, resources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Maps for EmComm?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1645920" cy="54864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280160"/>
            <a:ext cx="2743200" cy="3291840"/>
          </a:xfrm>
          <a:prstGeom prst="roundRect">
            <a:avLst>
              <a:gd name="adj" fmla="val 4000"/>
            </a:avLst>
          </a:prstGeom>
          <a:solidFill>
            <a:srgbClr val="F1F5F9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508760"/>
            <a:ext cx="457200" cy="457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0080" y="214884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can talk to whom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640080" y="2880360"/>
            <a:ext cx="2377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Visualize net connectivity, simplex paths, and relay needs during an activation.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3337560" y="1280160"/>
            <a:ext cx="2743200" cy="3291840"/>
          </a:xfrm>
          <a:prstGeom prst="roundRect">
            <a:avLst>
              <a:gd name="adj" fmla="val 4000"/>
            </a:avLst>
          </a:prstGeom>
          <a:solidFill>
            <a:srgbClr val="F1F5F9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6160" y="1508760"/>
            <a:ext cx="457200" cy="4572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3520440" y="214884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people &amp; assets are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3520440" y="2880360"/>
            <a:ext cx="2377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Stations, shelters, EOCs, repeaters, staging areas — all on one picture.</a:t>
            </a:r>
            <a:endParaRPr lang="en-US" sz="1400" dirty="0"/>
          </a:p>
        </p:txBody>
      </p:sp>
      <p:sp>
        <p:nvSpPr>
          <p:cNvPr id="12" name="Shape 8"/>
          <p:cNvSpPr/>
          <p:nvPr/>
        </p:nvSpPr>
        <p:spPr>
          <a:xfrm>
            <a:off x="6217920" y="1280160"/>
            <a:ext cx="2743200" cy="3291840"/>
          </a:xfrm>
          <a:prstGeom prst="roundRect">
            <a:avLst>
              <a:gd name="adj" fmla="val 4000"/>
            </a:avLst>
          </a:prstGeom>
          <a:solidFill>
            <a:srgbClr val="F1F5F9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6520" y="1508760"/>
            <a:ext cx="457200" cy="45720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6400800" y="214884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After-action &amp; planning</a:t>
            </a:r>
            <a:endParaRPr lang="en-US" sz="1600" dirty="0"/>
          </a:p>
        </p:txBody>
      </p:sp>
      <p:sp>
        <p:nvSpPr>
          <p:cNvPr id="15" name="Text 10"/>
          <p:cNvSpPr/>
          <p:nvPr/>
        </p:nvSpPr>
        <p:spPr>
          <a:xfrm>
            <a:off x="6400800" y="2880360"/>
            <a:ext cx="2377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 what worked, coverage gaps, and plan future exercises or deployments.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Recent Real Example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1645920" cy="54864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1430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Simple map features that answered a real question: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8046720" cy="594360"/>
          </a:xfrm>
          <a:prstGeom prst="roundRect">
            <a:avLst>
              <a:gd name="adj" fmla="val 12308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801368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Points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2286000" y="1801368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station / operator location, labeled with callsign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48640" y="2377440"/>
            <a:ext cx="8046720" cy="59436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2487168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Lines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2286000" y="2487168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Radio contacts between stations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48640" y="3063240"/>
            <a:ext cx="8046720" cy="594360"/>
          </a:xfrm>
          <a:prstGeom prst="roundRect">
            <a:avLst>
              <a:gd name="adj" fmla="val 12308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7240" y="3172968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Color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2286000" y="3172968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Line color = perceived signal strength (strong / fair / weak)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548640" y="3749040"/>
            <a:ext cx="8046720" cy="59436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77240" y="3858768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2286000" y="3858768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Instant picture of net topology and where relays were needed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QGIS — and When Not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1645920" cy="54864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188720"/>
            <a:ext cx="4023360" cy="3566160"/>
          </a:xfrm>
          <a:prstGeom prst="roundRect">
            <a:avLst>
              <a:gd name="adj" fmla="val 3077"/>
            </a:avLst>
          </a:prstGeom>
          <a:solidFill>
            <a:srgbClr val="DBEAFE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13716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QGIS is excellent for…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85800" y="192024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Custom situational maps (any layers you want)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85800" y="237744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After-action reports &amp; printed field maps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85800" y="283464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Combining radio data + public GIS + OSM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85800" y="329184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Free, offline-capable, works on Windows/Mac/Linux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85800" y="374904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Rich symbology, labeling, print layout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709160" y="1188720"/>
            <a:ext cx="4023360" cy="3566160"/>
          </a:xfrm>
          <a:prstGeom prst="roundRect">
            <a:avLst>
              <a:gd name="adj" fmla="val 3077"/>
            </a:avLst>
          </a:prstGeom>
          <a:solidFill>
            <a:srgbClr val="F1F5F9"/>
          </a:solidFill>
          <a:ln/>
        </p:spPr>
      </p:sp>
      <p:sp>
        <p:nvSpPr>
          <p:cNvPr id="12" name="Text 10"/>
          <p:cNvSpPr/>
          <p:nvPr/>
        </p:nvSpPr>
        <p:spPr>
          <a:xfrm>
            <a:off x="4937760" y="13716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Specialized tools shine for…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937760" y="192024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YAAC / Xastir / APRSISCE — live APRS tracking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937760" y="237744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Graywolf / similar — radio-specific mapping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937760" y="283464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SARTrack, Winlink map features, etc.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937760" y="329184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When you need real-time position reports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937760" y="374904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QGIS is complementary, not a replacement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8412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0F172A"/>
                </a:solidFill>
                <a:latin typeface="Arial"/>
              </a:rPr>
              <a:t>QGIS → CalTopo for Live Field Sharing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777240"/>
            <a:ext cx="1645920" cy="4572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960120"/>
            <a:ext cx="8321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1E293B"/>
                </a:solidFill>
                <a:latin typeface="Arial"/>
              </a:rPr>
              <a:t>Do the careful layer work in QGIS, then push the results to CalTopo so field teams can see (and update) them in real time.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" y="1417320"/>
            <a:ext cx="4114800" cy="324612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508760"/>
            <a:ext cx="3840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1D4ED8"/>
                </a:solidFill>
                <a:latin typeface="Arial"/>
              </a:rPr>
              <a:t>1. Export from QGIS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874519"/>
            <a:ext cx="3794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1E293B"/>
                </a:solidFill>
                <a:latin typeface="Arial"/>
              </a:rPr>
              <a:t>Reproject layer to WGS84 (EPSG:4326)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185415"/>
            <a:ext cx="3794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1E293B"/>
                </a:solidFill>
                <a:latin typeface="Arial"/>
              </a:rPr>
              <a:t>Have a “Name” field for labels (recommended)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496311"/>
            <a:ext cx="3794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1E293B"/>
                </a:solidFill>
                <a:latin typeface="Arial"/>
              </a:rPr>
              <a:t>Right-click layer → Export → Save Features As…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807207"/>
            <a:ext cx="3794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1E293B"/>
                </a:solidFill>
                <a:latin typeface="Arial"/>
              </a:rPr>
              <a:t>Format: KML, GPX, or GeoJSON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3118103"/>
            <a:ext cx="3794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1E293B"/>
                </a:solidFill>
                <a:latin typeface="Arial"/>
              </a:rPr>
              <a:t>  • GPX – best for routes / tracks / waypoints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3428999"/>
            <a:ext cx="3794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1E293B"/>
                </a:solidFill>
                <a:latin typeface="Arial"/>
              </a:rPr>
              <a:t>  • KML – good all-around + attributes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3739895"/>
            <a:ext cx="3794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1E293B"/>
                </a:solidFill>
                <a:latin typeface="Arial"/>
              </a:rPr>
              <a:t>  • GeoJSON – preserves more structure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4050791"/>
            <a:ext cx="3794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1E293B"/>
                </a:solidFill>
                <a:latin typeface="Arial"/>
              </a:rPr>
              <a:t>Save the file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709160" y="1417320"/>
            <a:ext cx="4114800" cy="3246120"/>
          </a:xfrm>
          <a:prstGeom prst="round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846320" y="1508760"/>
            <a:ext cx="3840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1D4ED8"/>
                </a:solidFill>
                <a:latin typeface="Arial"/>
              </a:rPr>
              <a:t>2. Import into CalTopo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92040" y="1874519"/>
            <a:ext cx="3794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1E293B"/>
                </a:solidFill>
                <a:latin typeface="Arial"/>
              </a:rPr>
              <a:t>Open (or create) your map at caltopo.com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92040" y="2221991"/>
            <a:ext cx="3794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1E293B"/>
                </a:solidFill>
                <a:latin typeface="Arial"/>
              </a:rPr>
              <a:t>Map Objects panel → Import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92040" y="2569463"/>
            <a:ext cx="3794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1E293B"/>
                </a:solidFill>
                <a:latin typeface="Arial"/>
              </a:rPr>
              <a:t>Select the KML / GPX / GeoJSON file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92040" y="2916935"/>
            <a:ext cx="3794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1E293B"/>
                </a:solidFill>
                <a:latin typeface="Arial"/>
              </a:rPr>
              <a:t>Check the features you want, click Import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92040" y="3264407"/>
            <a:ext cx="3794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1E293B"/>
                </a:solidFill>
                <a:latin typeface="Arial"/>
              </a:rPr>
              <a:t>Objects appear on the map &amp; in the list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92040" y="3611879"/>
            <a:ext cx="3794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1E293B"/>
                </a:solidFill>
                <a:latin typeface="Arial"/>
              </a:rPr>
              <a:t>Then share the map (link or QR code)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892040" y="3959351"/>
            <a:ext cx="3794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1E293B"/>
                </a:solidFill>
                <a:latin typeface="Arial"/>
              </a:rPr>
              <a:t>  so field teams see live updates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4754880"/>
            <a:ext cx="83210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i="1">
                <a:solidFill>
                  <a:srgbClr val="64748B"/>
                </a:solidFill>
                <a:latin typeface="Arial"/>
              </a:rPr>
              <a:t>Tip: Export windshield-survey routes as GPX tracks and resource locations as GPX waypoints or KML points for the cleanest results.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QGIS?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1645920" cy="54864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1430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and open-source Geographic Information System (GIS) desktop software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169164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2377440" y="1691640"/>
            <a:ext cx="6217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Completely free — no license fees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40080" y="224028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Platforms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2377440" y="2240280"/>
            <a:ext cx="6217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Windows, macOS, Linux, even Raspberry Pi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40080" y="278892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Community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2377440" y="2788920"/>
            <a:ext cx="6217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Huge user base + plugins for almost everything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40080" y="333756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Capability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2377440" y="3337560"/>
            <a:ext cx="6217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simple pins to advanced analysis &amp; print layouts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40080" y="388620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2377440" y="3886200"/>
            <a:ext cx="6217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Reads shapefiles, GeoJSON, GPX, CSV, raster, WMS, etc.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Concepts (5-Minute GIS)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1645920" cy="54864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143000"/>
            <a:ext cx="4114800" cy="1097280"/>
          </a:xfrm>
          <a:prstGeom prst="roundRect">
            <a:avLst>
              <a:gd name="adj" fmla="val 8333"/>
            </a:avLst>
          </a:prstGeom>
          <a:solidFill>
            <a:srgbClr val="F1F5F9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28016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Layers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164592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Think of transparent sheets stacked. Basemap + stations + contacts + labels.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2377440"/>
            <a:ext cx="4114800" cy="1097280"/>
          </a:xfrm>
          <a:prstGeom prst="roundRect">
            <a:avLst>
              <a:gd name="adj" fmla="val 8333"/>
            </a:avLst>
          </a:prstGeom>
          <a:solidFill>
            <a:srgbClr val="F1F5F9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251460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Vector data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0080" y="288036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Points (stations), lines (paths/contacts), polygons (areas). Attributes live in a table.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3611880"/>
            <a:ext cx="4114800" cy="1097280"/>
          </a:xfrm>
          <a:prstGeom prst="roundRect">
            <a:avLst>
              <a:gd name="adj" fmla="val 8333"/>
            </a:avLst>
          </a:prstGeom>
          <a:solidFill>
            <a:srgbClr val="F1F5F9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374904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CRS / Projection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40080" y="411480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the round Earth is flattened. Use a local projected CRS or Web Mercator for web maps.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754880" y="1143000"/>
            <a:ext cx="4114800" cy="1097280"/>
          </a:xfrm>
          <a:prstGeom prst="roundRect">
            <a:avLst>
              <a:gd name="adj" fmla="val 8333"/>
            </a:avLst>
          </a:prstGeom>
          <a:solidFill>
            <a:srgbClr val="F1F5F9"/>
          </a:solidFill>
          <a:ln/>
        </p:spPr>
      </p:sp>
      <p:sp>
        <p:nvSpPr>
          <p:cNvPr id="14" name="Text 12"/>
          <p:cNvSpPr/>
          <p:nvPr/>
        </p:nvSpPr>
        <p:spPr>
          <a:xfrm>
            <a:off x="4937760" y="128016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Symbology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937760" y="164592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features look: color, size, line style — driven by attribute values (e.g., signal strength).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754880" y="2377440"/>
            <a:ext cx="4114800" cy="1097280"/>
          </a:xfrm>
          <a:prstGeom prst="roundRect">
            <a:avLst>
              <a:gd name="adj" fmla="val 8333"/>
            </a:avLst>
          </a:prstGeom>
          <a:solidFill>
            <a:srgbClr val="F1F5F9"/>
          </a:solidFill>
          <a:ln/>
        </p:spPr>
      </p:sp>
      <p:sp>
        <p:nvSpPr>
          <p:cNvPr id="17" name="Text 15"/>
          <p:cNvSpPr/>
          <p:nvPr/>
        </p:nvSpPr>
        <p:spPr>
          <a:xfrm>
            <a:off x="4937760" y="251460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Labels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937760" y="288036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Text pulled from attributes (callsign, name, grid square) placed on the map.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Typical EmComm Map Workflow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1645920" cy="54864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4" name="Shape 2"/>
          <p:cNvSpPr/>
          <p:nvPr/>
        </p:nvSpPr>
        <p:spPr>
          <a:xfrm>
            <a:off x="594360" y="1143000"/>
            <a:ext cx="411480" cy="411480"/>
          </a:xfrm>
          <a:prstGeom prst="ellipse">
            <a:avLst/>
          </a:prstGeom>
          <a:solidFill>
            <a:srgbClr val="1D4ED8"/>
          </a:solidFill>
          <a:ln/>
        </p:spPr>
      </p:sp>
      <p:sp>
        <p:nvSpPr>
          <p:cNvPr id="5" name="Text 3"/>
          <p:cNvSpPr/>
          <p:nvPr/>
        </p:nvSpPr>
        <p:spPr>
          <a:xfrm>
            <a:off x="594360" y="1188720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188720" y="109728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 a project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840480" y="109728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project → set CRS (or let it be set by first layer)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94360" y="1737360"/>
            <a:ext cx="411480" cy="411480"/>
          </a:xfrm>
          <a:prstGeom prst="ellipse">
            <a:avLst/>
          </a:prstGeom>
          <a:solidFill>
            <a:srgbClr val="1D4ED8"/>
          </a:solidFill>
          <a:ln/>
        </p:spPr>
      </p:sp>
      <p:sp>
        <p:nvSpPr>
          <p:cNvPr id="9" name="Text 7"/>
          <p:cNvSpPr/>
          <p:nvPr/>
        </p:nvSpPr>
        <p:spPr>
          <a:xfrm>
            <a:off x="594360" y="1783080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188720" y="169164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basemap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840480" y="169164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XYZ tiles (OSM) or local offline tiles / county imagery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94360" y="2331720"/>
            <a:ext cx="411480" cy="411480"/>
          </a:xfrm>
          <a:prstGeom prst="ellipse">
            <a:avLst/>
          </a:prstGeom>
          <a:solidFill>
            <a:srgbClr val="1D4ED8"/>
          </a:solidFill>
          <a:ln/>
        </p:spPr>
      </p:sp>
      <p:sp>
        <p:nvSpPr>
          <p:cNvPr id="13" name="Text 11"/>
          <p:cNvSpPr/>
          <p:nvPr/>
        </p:nvSpPr>
        <p:spPr>
          <a:xfrm>
            <a:off x="594360" y="2377440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188720" y="228600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 point layer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3840480" y="228600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Stations with callsign, lat/lon, notes attributes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594360" y="2926080"/>
            <a:ext cx="411480" cy="411480"/>
          </a:xfrm>
          <a:prstGeom prst="ellipse">
            <a:avLst/>
          </a:prstGeom>
          <a:solidFill>
            <a:srgbClr val="1D4ED8"/>
          </a:solidFill>
          <a:ln/>
        </p:spPr>
      </p:sp>
      <p:sp>
        <p:nvSpPr>
          <p:cNvPr id="17" name="Text 15"/>
          <p:cNvSpPr/>
          <p:nvPr/>
        </p:nvSpPr>
        <p:spPr>
          <a:xfrm>
            <a:off x="594360" y="2971800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188720" y="288036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 line layer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3840480" y="288036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Contacts; attributes for signal strength, mode, notes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594360" y="3520440"/>
            <a:ext cx="411480" cy="411480"/>
          </a:xfrm>
          <a:prstGeom prst="ellipse">
            <a:avLst/>
          </a:prstGeom>
          <a:solidFill>
            <a:srgbClr val="1D4ED8"/>
          </a:solidFill>
          <a:ln/>
        </p:spPr>
      </p:sp>
      <p:sp>
        <p:nvSpPr>
          <p:cNvPr id="21" name="Text 19"/>
          <p:cNvSpPr/>
          <p:nvPr/>
        </p:nvSpPr>
        <p:spPr>
          <a:xfrm>
            <a:off x="594360" y="3566160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188720" y="347472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Style &amp; label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3840480" y="347472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Color lines by strength; label ends with callsigns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594360" y="4114800"/>
            <a:ext cx="411480" cy="411480"/>
          </a:xfrm>
          <a:prstGeom prst="ellipse">
            <a:avLst/>
          </a:prstGeom>
          <a:solidFill>
            <a:srgbClr val="1D4ED8"/>
          </a:solidFill>
          <a:ln/>
        </p:spPr>
      </p:sp>
      <p:sp>
        <p:nvSpPr>
          <p:cNvPr id="25" name="Text 23"/>
          <p:cNvSpPr/>
          <p:nvPr/>
        </p:nvSpPr>
        <p:spPr>
          <a:xfrm>
            <a:off x="594360" y="4160520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1188720" y="406908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Print / export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3840480" y="406908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Layout manager for PDF/print; or share the .qgz project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Hands-on Focus: Points + Lines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1645920" cy="54864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143000"/>
            <a:ext cx="4023360" cy="3566160"/>
          </a:xfrm>
          <a:prstGeom prst="roundRect">
            <a:avLst>
              <a:gd name="adj" fmla="val 2564"/>
            </a:avLst>
          </a:prstGeom>
          <a:solidFill>
            <a:srgbClr val="F1F5F9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3258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Point Layer — Stations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187452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callsign  (text)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31520" y="228600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name / tactical  (text)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31520" y="269748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lat, lon  (or just digitize)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31520" y="310896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role  (EOC, field, home…)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731520" y="35204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notes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4709160" y="1143000"/>
            <a:ext cx="4023360" cy="3566160"/>
          </a:xfrm>
          <a:prstGeom prst="roundRect">
            <a:avLst>
              <a:gd name="adj" fmla="val 2564"/>
            </a:avLst>
          </a:prstGeom>
          <a:solidFill>
            <a:srgbClr val="DBEAFE"/>
          </a:solidFill>
          <a:ln/>
        </p:spPr>
      </p:sp>
      <p:sp>
        <p:nvSpPr>
          <p:cNvPr id="12" name="Text 10"/>
          <p:cNvSpPr/>
          <p:nvPr/>
        </p:nvSpPr>
        <p:spPr>
          <a:xfrm>
            <a:off x="4892040" y="13258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Line Layer — Contacts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983480" y="187452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from_call  /  to_call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983480" y="228600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signal  (Strong / Fair / Weak)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983480" y="269748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mode  (FM, SSB, digital…)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4983480" y="310896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time / net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4983480" y="35204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notes  (relay needed?)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Styling by Signal Strength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1645920" cy="54864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972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Layer Properties → Symbology → Categorized (or Rule-based)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1645920"/>
            <a:ext cx="2651760" cy="2194560"/>
          </a:xfrm>
          <a:prstGeom prst="roundRect">
            <a:avLst>
              <a:gd name="adj" fmla="val 4167"/>
            </a:avLst>
          </a:prstGeom>
          <a:solidFill>
            <a:srgbClr val="F1F5F9"/>
          </a:solidFill>
          <a:ln/>
        </p:spPr>
      </p:sp>
      <p:sp>
        <p:nvSpPr>
          <p:cNvPr id="6" name="Shape 4"/>
          <p:cNvSpPr/>
          <p:nvPr/>
        </p:nvSpPr>
        <p:spPr>
          <a:xfrm>
            <a:off x="822960" y="1965960"/>
            <a:ext cx="2103120" cy="32004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24688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Strong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31520" y="292608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Solid green — clear copy, reliable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383280" y="1645920"/>
            <a:ext cx="2651760" cy="2194560"/>
          </a:xfrm>
          <a:prstGeom prst="roundRect">
            <a:avLst>
              <a:gd name="adj" fmla="val 4167"/>
            </a:avLst>
          </a:prstGeom>
          <a:solidFill>
            <a:srgbClr val="F1F5F9"/>
          </a:solidFill>
          <a:ln/>
        </p:spPr>
      </p:sp>
      <p:sp>
        <p:nvSpPr>
          <p:cNvPr id="10" name="Shape 8"/>
          <p:cNvSpPr/>
          <p:nvPr/>
        </p:nvSpPr>
        <p:spPr>
          <a:xfrm>
            <a:off x="3657600" y="1965960"/>
            <a:ext cx="2103120" cy="32004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1" name="Text 9"/>
          <p:cNvSpPr/>
          <p:nvPr/>
        </p:nvSpPr>
        <p:spPr>
          <a:xfrm>
            <a:off x="3566160" y="24688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Fair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3566160" y="292608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Amber — usable with effort / QSB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217920" y="1645920"/>
            <a:ext cx="2651760" cy="2194560"/>
          </a:xfrm>
          <a:prstGeom prst="roundRect">
            <a:avLst>
              <a:gd name="adj" fmla="val 4167"/>
            </a:avLst>
          </a:prstGeom>
          <a:solidFill>
            <a:srgbClr val="F1F5F9"/>
          </a:solidFill>
          <a:ln/>
        </p:spPr>
      </p:sp>
      <p:sp>
        <p:nvSpPr>
          <p:cNvPr id="14" name="Shape 12"/>
          <p:cNvSpPr/>
          <p:nvPr/>
        </p:nvSpPr>
        <p:spPr>
          <a:xfrm>
            <a:off x="6492240" y="1965960"/>
            <a:ext cx="2103120" cy="32004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0" y="24688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Weak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6400800" y="292608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 — marginal, needs relay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Useful Data Sources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1645920" cy="54864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143000"/>
            <a:ext cx="411480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28016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OpenStreetMap / XYZ tiles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40080" y="164592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basemap; can cache for offline use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754880" y="1143000"/>
            <a:ext cx="411480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/>
        </p:spPr>
      </p:sp>
      <p:sp>
        <p:nvSpPr>
          <p:cNvPr id="8" name="Text 6"/>
          <p:cNvSpPr/>
          <p:nvPr/>
        </p:nvSpPr>
        <p:spPr>
          <a:xfrm>
            <a:off x="4937760" y="128016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County / State GIS portals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937760" y="164592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Parcels, roads, buildings, flood zones, EOCs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2286000"/>
            <a:ext cx="411480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242316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GPX from handhelds / APRS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40080" y="278892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Import track logs or waypoint exports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754880" y="2286000"/>
            <a:ext cx="411480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/>
        </p:spPr>
      </p:sp>
      <p:sp>
        <p:nvSpPr>
          <p:cNvPr id="14" name="Text 12"/>
          <p:cNvSpPr/>
          <p:nvPr/>
        </p:nvSpPr>
        <p:spPr>
          <a:xfrm>
            <a:off x="4937760" y="242316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CSV / spreadsheet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937760" y="278892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Callsign + lat/lon list → Delimited Text layer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57200" y="3429000"/>
            <a:ext cx="411480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356616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Repeater directories / FCC data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40080" y="393192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Public databases; convert to points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754880" y="3429000"/>
            <a:ext cx="411480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/>
        </p:spPr>
      </p:sp>
      <p:sp>
        <p:nvSpPr>
          <p:cNvPr id="20" name="Text 18"/>
          <p:cNvSpPr/>
          <p:nvPr/>
        </p:nvSpPr>
        <p:spPr>
          <a:xfrm>
            <a:off x="4937760" y="356616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own digitizing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4937760" y="393192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Click to add stations and draw contact lines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Practical Tips for EmComm Use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1645920" cy="54864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09728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Offline readiness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3017520" y="1097280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Pre-download basemap tiles or use local GeoPackage / MBTiles so the map works without internet.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169164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Print layouts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3017520" y="1691640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the Layout Manager to make clean 8.5×11 or 11×17 maps with legend, scale bar, and north arrow for the field.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228600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Simple is better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3017520" y="2286000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clear question per map. Too many layers = cluttered and hard to read under stress.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40080" y="28803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 the project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017520" y="2880360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.qgz file + data folder can be handed to another operator who has QGIS.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40080" y="347472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Version &amp; date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017520" y="3474720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Always put date/time and “as of” on the map — situations change fast.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40080" y="406908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Practice now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3017520" y="4069080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a map of a recent net or exercise while the data is fresh.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F172A"/>
                </a:solidFill>
                <a:latin typeface="Arial"/>
              </a:rPr>
              <a:t>Resources &amp; Next Steps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68680"/>
            <a:ext cx="1645920" cy="54864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02920" y="1051560"/>
            <a:ext cx="8229600" cy="4572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88136"/>
            <a:ext cx="78638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1D4ED8"/>
                </a:solidFill>
                <a:latin typeface="Arial"/>
              </a:rPr>
              <a:t>qgis.org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280160"/>
            <a:ext cx="78638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64748B"/>
                </a:solidFill>
                <a:latin typeface="Arial"/>
              </a:rPr>
              <a:t>https://qgis.org  —  Download + official docs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545336"/>
            <a:ext cx="8229600" cy="457200"/>
          </a:xfrm>
          <a:prstGeom prst="roundRect">
            <a:avLst/>
          </a:prstGeom>
          <a:solidFill>
            <a:srgbClr val="F1F5F9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581912"/>
            <a:ext cx="78638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1D4ED8"/>
                </a:solidFill>
                <a:latin typeface="Arial"/>
              </a:rPr>
              <a:t>QGIS Training Manual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773936"/>
            <a:ext cx="78638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64748B"/>
                </a:solidFill>
                <a:latin typeface="Arial"/>
              </a:rPr>
              <a:t>https://docs.qgis.org/latest/en/docs/training_manual/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2039112"/>
            <a:ext cx="8229600" cy="457200"/>
          </a:xfrm>
          <a:prstGeom prst="roundRect">
            <a:avLst/>
          </a:prstGeom>
          <a:solidFill>
            <a:srgbClr val="F1F5F9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2075688"/>
            <a:ext cx="78638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1D4ED8"/>
                </a:solidFill>
                <a:latin typeface="Arial"/>
              </a:rPr>
              <a:t>OpenStreetMap (OSM)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267712"/>
            <a:ext cx="78638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64748B"/>
                </a:solidFill>
                <a:latin typeface="Arial"/>
              </a:rPr>
              <a:t>https://www.openstreetmap.org  —  Free basemap data &amp; tiles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2532888"/>
            <a:ext cx="8229600" cy="4572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2569464"/>
            <a:ext cx="78638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1D4ED8"/>
                </a:solidFill>
                <a:latin typeface="Arial"/>
              </a:rPr>
              <a:t>PASDA (PA Spatial Data)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2761488"/>
            <a:ext cx="78638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64748B"/>
                </a:solidFill>
                <a:latin typeface="Arial"/>
              </a:rPr>
              <a:t>https://www.pasda.psu.edu  —  Free PA GIS data (counties, EOCs, flood…)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3026664"/>
            <a:ext cx="8229600" cy="4572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3063240"/>
            <a:ext cx="78638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1D4ED8"/>
                </a:solidFill>
                <a:latin typeface="Arial"/>
              </a:rPr>
              <a:t>CalTopo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3255264"/>
            <a:ext cx="78638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64748B"/>
                </a:solidFill>
                <a:latin typeface="Arial"/>
              </a:rPr>
              <a:t>https://caltopo.com  —  Real-time collaborative maps for field teams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20" y="3520440"/>
            <a:ext cx="8229600" cy="457200"/>
          </a:xfrm>
          <a:prstGeom prst="roundRect">
            <a:avLst/>
          </a:prstGeom>
          <a:solidFill>
            <a:srgbClr val="F1F5F9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3557016"/>
            <a:ext cx="78638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1D4ED8"/>
                </a:solidFill>
                <a:latin typeface="Arial"/>
              </a:rPr>
              <a:t>QuickMapServices plugin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3749039"/>
            <a:ext cx="78638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64748B"/>
                </a:solidFill>
                <a:latin typeface="Arial"/>
              </a:rPr>
              <a:t>Plugins → Manage and Install Plugins → “QuickMapServices”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2920" y="4014216"/>
            <a:ext cx="8229600" cy="4572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4050792"/>
            <a:ext cx="78638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1D4ED8"/>
                </a:solidFill>
                <a:latin typeface="Arial"/>
              </a:rPr>
              <a:t>Cumberland / York County GIS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4242816"/>
            <a:ext cx="78638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64748B"/>
                </a:solidFill>
                <a:latin typeface="Arial"/>
              </a:rPr>
              <a:t>cumberlandcountypa.gov/3517/Map-Services  ·  yorkcountypa.gov/1042/GISMaps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Takeaways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1645920" cy="54864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1280160"/>
            <a:ext cx="320040" cy="320040"/>
          </a:xfrm>
          <a:prstGeom prst="ellipse">
            <a:avLst/>
          </a:prstGeom>
          <a:solidFill>
            <a:srgbClr val="1D4ED8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298448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143000" y="118872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QGIS lets you build custom EmComm maps that answer specific questions.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40080" y="1965960"/>
            <a:ext cx="320040" cy="320040"/>
          </a:xfrm>
          <a:prstGeom prst="ellipse">
            <a:avLst/>
          </a:prstGeom>
          <a:solidFill>
            <a:srgbClr val="1D4ED8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984248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143000" y="187452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Points + lines + simple attributes (callsign, signal) already give huge value.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40080" y="2651760"/>
            <a:ext cx="320040" cy="320040"/>
          </a:xfrm>
          <a:prstGeom prst="ellipse">
            <a:avLst/>
          </a:prstGeom>
          <a:solidFill>
            <a:srgbClr val="1D4ED8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2670048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143000" y="256032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complements (doesn’t replace) live APRS / radio-specific tools.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40080" y="3337560"/>
            <a:ext cx="320040" cy="320040"/>
          </a:xfrm>
          <a:prstGeom prst="ellipse">
            <a:avLst/>
          </a:prstGeom>
          <a:solidFill>
            <a:srgbClr val="1D4ED8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3355848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143000" y="324612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Offline capability and print layouts make it useful in the field and for reports.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40080" y="4023360"/>
            <a:ext cx="320040" cy="320040"/>
          </a:xfrm>
          <a:prstGeom prst="ellipse">
            <a:avLst/>
          </a:prstGeom>
          <a:solidFill>
            <a:srgbClr val="1D4ED8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4041648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143000" y="393192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 small: one net, one map, one clear picture of connectivity.</a:t>
            </a:r>
            <a:endParaRPr lang="en-US" sz="16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8412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F172A"/>
                </a:solidFill>
                <a:latin typeface="Arial"/>
              </a:rPr>
              <a:t>Quick Glossary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777240"/>
            <a:ext cx="1645920" cy="4572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6012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1D4ED8"/>
                </a:solidFill>
                <a:latin typeface="Arial"/>
              </a:rPr>
              <a:t>OSM / OpenStreetMap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71800" y="960120"/>
            <a:ext cx="5852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1E293B"/>
                </a:solidFill>
                <a:latin typeface="Arial"/>
              </a:rPr>
              <a:t>Free community-built world map; common source of basemap tiles.  openstreetmap.org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23444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1D4ED8"/>
                </a:solidFill>
                <a:latin typeface="Arial"/>
              </a:rPr>
              <a:t>lat / lon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971800" y="1234440"/>
            <a:ext cx="5852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1E293B"/>
                </a:solidFill>
                <a:latin typeface="Arial"/>
              </a:rPr>
              <a:t>Latitude / Longitude – geographic coordinates (degrees). Standard for GPS and web maps.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50876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1D4ED8"/>
                </a:solidFill>
                <a:latin typeface="Arial"/>
              </a:rPr>
              <a:t>WGS84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71800" y="1508760"/>
            <a:ext cx="5852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1E293B"/>
                </a:solidFill>
                <a:latin typeface="Arial"/>
              </a:rPr>
              <a:t>World Geodetic System 1984 (EPSG:4326). The global lat/lon datum used by GPS. ESRI equivalent: GCS_WGS_1984.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78308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1D4ED8"/>
                </a:solidFill>
                <a:latin typeface="Arial"/>
              </a:rPr>
              <a:t>UTM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71800" y="1783080"/>
            <a:ext cx="5852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1E293B"/>
                </a:solidFill>
                <a:latin typeface="Arial"/>
              </a:rPr>
              <a:t>Universal Transverse Mercator – projected coordinate system (meters) good for local distance/area work.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05740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1D4ED8"/>
                </a:solidFill>
                <a:latin typeface="Arial"/>
              </a:rPr>
              <a:t>CRS / Projection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71800" y="2057400"/>
            <a:ext cx="5852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1E293B"/>
                </a:solidFill>
                <a:latin typeface="Arial"/>
              </a:rPr>
              <a:t>Coordinate Reference System – how the curved Earth is represented on a flat map.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233172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1D4ED8"/>
                </a:solidFill>
                <a:latin typeface="Arial"/>
              </a:rPr>
              <a:t>LIDAR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71800" y="2331720"/>
            <a:ext cx="5852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1E293B"/>
                </a:solidFill>
                <a:latin typeface="Arial"/>
              </a:rPr>
              <a:t>Light Detection and Ranging – laser scanning that produces detailed elevation / 3-D surface data.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2606039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1D4ED8"/>
                </a:solidFill>
                <a:latin typeface="Arial"/>
              </a:rPr>
              <a:t>Vector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71800" y="2606039"/>
            <a:ext cx="5852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1E293B"/>
                </a:solidFill>
                <a:latin typeface="Arial"/>
              </a:rPr>
              <a:t>Points, lines, or polygons that carry attributes (e.g., a station with a callsign).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2880359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1D4ED8"/>
                </a:solidFill>
                <a:latin typeface="Arial"/>
              </a:rPr>
              <a:t>Raster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971800" y="2880359"/>
            <a:ext cx="5852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1E293B"/>
                </a:solidFill>
                <a:latin typeface="Arial"/>
              </a:rPr>
              <a:t>Grid-based data such as aerial photos, elevation models, or LIDAR-derived surfaces.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3154679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1D4ED8"/>
                </a:solidFill>
                <a:latin typeface="Arial"/>
              </a:rPr>
              <a:t>Basemap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971800" y="3154679"/>
            <a:ext cx="5852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1E293B"/>
                </a:solidFill>
                <a:latin typeface="Arial"/>
              </a:rPr>
              <a:t>Background reference map (often OSM or imagery) under your own layers.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3428999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1D4ED8"/>
                </a:solidFill>
                <a:latin typeface="Arial"/>
              </a:rPr>
              <a:t>Layer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971800" y="3428999"/>
            <a:ext cx="5852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1E293B"/>
                </a:solidFill>
                <a:latin typeface="Arial"/>
              </a:rPr>
              <a:t>One dataset (or styled view) stacked in the map — like transparent sheets.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3703319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1D4ED8"/>
                </a:solidFill>
                <a:latin typeface="Arial"/>
              </a:rPr>
              <a:t>Attribute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971800" y="3703319"/>
            <a:ext cx="5852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1E293B"/>
                </a:solidFill>
                <a:latin typeface="Arial"/>
              </a:rPr>
              <a:t>Information stored with a feature: callsign, signal strength, notes, etc.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3977639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1D4ED8"/>
                </a:solidFill>
                <a:latin typeface="Arial"/>
              </a:rPr>
              <a:t>GeoPackage / Shapefile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971800" y="3977639"/>
            <a:ext cx="5852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1E293B"/>
                </a:solidFill>
                <a:latin typeface="Arial"/>
              </a:rPr>
              <a:t>Common file formats for storing and sharing vector GIS data.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4251959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1D4ED8"/>
                </a:solidFill>
                <a:latin typeface="Arial"/>
              </a:rPr>
              <a:t>WMS / XYZ tiles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971800" y="4251959"/>
            <a:ext cx="5852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1E293B"/>
                </a:solidFill>
                <a:latin typeface="Arial"/>
              </a:rPr>
              <a:t>Web services that deliver basemap images. XYZ is typical for OSM-style tiles.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4526279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1D4ED8"/>
                </a:solidFill>
                <a:latin typeface="Arial"/>
              </a:rPr>
              <a:t>QGIS Project (.qgz)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971800" y="4526279"/>
            <a:ext cx="5852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1E293B"/>
                </a:solidFill>
                <a:latin typeface="Arial"/>
              </a:rPr>
              <a:t>Project file that saves layers, styles, and layouts for reuse or sharing.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01168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Questions?</a:t>
            </a:r>
            <a:endParaRPr lang="en-US" sz="4800" dirty="0"/>
          </a:p>
        </p:txBody>
      </p:sp>
      <p:sp>
        <p:nvSpPr>
          <p:cNvPr id="3" name="Shape 1"/>
          <p:cNvSpPr/>
          <p:nvPr/>
        </p:nvSpPr>
        <p:spPr>
          <a:xfrm>
            <a:off x="4023360" y="3108960"/>
            <a:ext cx="1280160" cy="73152"/>
          </a:xfrm>
          <a:prstGeom prst="rect">
            <a:avLst/>
          </a:prstGeom>
          <a:solidFill>
            <a:srgbClr val="1D4ED8"/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548640" y="34747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qgis.org  ·  openstreetmap.org  ·  pasda.psu.edu  ·  Practice with a recent net map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 to QGIS for EmComm Mapping</dc:title>
  <dc:subject>Introduction to QGIS for emergency communications mapping</dc:subject>
  <dc:creator>Ham Radio EmComm Group</dc:creator>
  <cp:lastModifiedBy>Ham Radio EmComm Group</cp:lastModifiedBy>
  <cp:revision>1</cp:revision>
  <dcterms:created xsi:type="dcterms:W3CDTF">2026-09-27T01:51:12Z</dcterms:created>
  <dcterms:modified xsi:type="dcterms:W3CDTF">2026-09-27T01:51:12Z</dcterms:modified>
</cp:coreProperties>
</file>